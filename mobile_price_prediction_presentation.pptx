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56" r:id="rId3"/>
    <p:sldId id="257" r:id="rId4"/>
    <p:sldId id="258" r:id="rId5"/>
    <p:sldId id="264" r:id="rId6"/>
    <p:sldId id="265" r:id="rId7"/>
    <p:sldId id="272" r:id="rId8"/>
    <p:sldId id="273" r:id="rId9"/>
    <p:sldId id="266" r:id="rId10"/>
    <p:sldId id="267" r:id="rId11"/>
    <p:sldId id="274" r:id="rId12"/>
    <p:sldId id="268" r:id="rId13"/>
    <p:sldId id="269" r:id="rId14"/>
    <p:sldId id="259" r:id="rId15"/>
    <p:sldId id="260" r:id="rId16"/>
    <p:sldId id="270" r:id="rId17"/>
    <p:sldId id="261" r:id="rId18"/>
    <p:sldId id="271" r:id="rId19"/>
    <p:sldId id="262" r:id="rId20"/>
    <p:sldId id="263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7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FA72-6B5E-16CA-4F74-DF64DE559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40" y="2642057"/>
            <a:ext cx="8229600" cy="1143000"/>
          </a:xfrm>
        </p:spPr>
        <p:txBody>
          <a:bodyPr/>
          <a:lstStyle/>
          <a:p>
            <a:r>
              <a:rPr lang="en-US" dirty="0"/>
              <a:t>Next Hikes IT Solutions</a:t>
            </a:r>
          </a:p>
        </p:txBody>
      </p:sp>
    </p:spTree>
    <p:extLst>
      <p:ext uri="{BB962C8B-B14F-4D97-AF65-F5344CB8AC3E}">
        <p14:creationId xmlns:p14="http://schemas.microsoft.com/office/powerpoint/2010/main" val="1632562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Price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Objective:</a:t>
            </a:r>
          </a:p>
          <a:p>
            <a:r>
              <a:t>Predict mobile prices using features like RAM, battery, processor,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Features:</a:t>
            </a:r>
          </a:p>
          <a:p>
            <a:r>
              <a:t>- Model, Color</a:t>
            </a:r>
          </a:p>
          <a:p>
            <a:r>
              <a:t>- RAM, Memory</a:t>
            </a:r>
          </a:p>
          <a:p>
            <a:r>
              <a:t>- Battery</a:t>
            </a:r>
          </a:p>
          <a:p>
            <a:r>
              <a:t>- Camera</a:t>
            </a:r>
          </a:p>
          <a:p>
            <a:r>
              <a:t>- Processor</a:t>
            </a:r>
          </a:p>
          <a:p>
            <a:r>
              <a:t>Target:</a:t>
            </a:r>
          </a:p>
          <a:p>
            <a:r>
              <a:t>-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- Handled missing values</a:t>
            </a:r>
          </a:p>
          <a:p>
            <a:r>
              <a:t>- Removed duplicates</a:t>
            </a:r>
          </a:p>
          <a:p>
            <a:r>
              <a:t>- Outlier treatment (IQR)</a:t>
            </a:r>
          </a:p>
          <a:p>
            <a:r>
              <a:t>- Encoding categorical variables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10C59-0DA2-9986-2EAA-8DE77A386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7E3F20-6D07-33C6-C282-221D08BF6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464" y="1999623"/>
            <a:ext cx="3914858" cy="3110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38DCF-D357-14C7-01E6-9B4EE5CE9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434" y="1996491"/>
            <a:ext cx="4259366" cy="334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4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A9CFB6-AB57-F99D-0456-A0AD77FC5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114" y="1613563"/>
            <a:ext cx="3856306" cy="3046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706581-67CA-9628-E868-3278A5038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433" y="1613563"/>
            <a:ext cx="4085453" cy="320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42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83FAB6-C687-0A44-8104-A57319422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151" y="1710422"/>
            <a:ext cx="3990521" cy="3149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E2B82B-6494-E029-EAD4-A81876544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170" y="1799159"/>
            <a:ext cx="3854351" cy="306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408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90188-B6B7-CA44-DAA1-29A06176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for 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6E8F1-DD62-F962-00BF-648562912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The market is dominated by </a:t>
            </a:r>
            <a:r>
              <a:rPr lang="en-US" sz="2400" b="1" dirty="0"/>
              <a:t>mid-range storage devices</a:t>
            </a:r>
            <a:r>
              <a:rPr lang="en-US" sz="2400" dirty="0"/>
              <a:t>, while high-end storage variants are limited and likely priced higher</a:t>
            </a:r>
          </a:p>
          <a:p>
            <a:pPr marL="0" indent="0">
              <a:buNone/>
            </a:pPr>
            <a:endParaRPr lang="en-US" sz="24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 4G RAM is the most common configuration (budget/mid-range segment).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 6GB–8GB RAM represents performance-oriented devices </a:t>
            </a:r>
          </a:p>
          <a:p>
            <a:r>
              <a:rPr lang="en-US" sz="2400" dirty="0"/>
              <a:t>Battery capacity is </a:t>
            </a:r>
            <a:r>
              <a:rPr lang="en-US" sz="2400" b="1" dirty="0"/>
              <a:t>highly standardized</a:t>
            </a:r>
            <a:r>
              <a:rPr lang="en-US" sz="2400" dirty="0"/>
              <a:t>, with 5000 </a:t>
            </a:r>
            <a:r>
              <a:rPr lang="en-US" sz="2400" dirty="0" err="1"/>
              <a:t>mAh</a:t>
            </a:r>
            <a:r>
              <a:rPr lang="en-US" sz="2400" dirty="0"/>
              <a:t> being the industry norm.</a:t>
            </a:r>
            <a:br>
              <a:rPr lang="en-US" sz="2400" dirty="0"/>
            </a:br>
            <a:r>
              <a:rPr lang="en-US" sz="2400" dirty="0"/>
              <a:t>→ This means battery is </a:t>
            </a:r>
            <a:r>
              <a:rPr lang="en-US" sz="2400" b="1" dirty="0"/>
              <a:t>not a strong differentiating factor</a:t>
            </a:r>
            <a:r>
              <a:rPr lang="en-US" sz="2400" dirty="0"/>
              <a:t> for price.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The dataset is dominated by mid-range smartphones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Premium phones act as outliers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32452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3AC07-EF66-FAF7-B9B2-1E40C74C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E25BD5-3F41-9D95-909A-46F10B450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45347"/>
            <a:ext cx="3874690" cy="2926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69671-AA82-9FAC-F5B0-E9E635C4A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208" y="1745347"/>
            <a:ext cx="4014592" cy="324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16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D24267-2142-3F01-B28B-AD5DE02F5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4124033" cy="3297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9BE9F9-6EA7-DA52-0E73-92548EA65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246" y="1600200"/>
            <a:ext cx="4359020" cy="31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3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09B2-C7AC-BF08-C381-E4016ECE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for 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C57FE-F518-B7FB-8129-E792BF2F6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000" dirty="0"/>
              <a:t>RAM is one of the </a:t>
            </a:r>
            <a:r>
              <a:rPr lang="en-US" sz="3000" b="1" dirty="0"/>
              <a:t>most influential factors</a:t>
            </a:r>
            <a:r>
              <a:rPr lang="en-US" sz="3000" dirty="0"/>
              <a:t> affecting mobile price.</a:t>
            </a:r>
          </a:p>
          <a:p>
            <a:r>
              <a:rPr lang="en-US" sz="3000" dirty="0"/>
              <a:t>Battery contributes to price but is </a:t>
            </a:r>
            <a:r>
              <a:rPr lang="en-US" sz="3000" b="1" dirty="0"/>
              <a:t>not a primary driver</a:t>
            </a:r>
            <a:r>
              <a:rPr lang="en-US" sz="3000" dirty="0"/>
              <a:t>.</a:t>
            </a:r>
          </a:p>
          <a:p>
            <a:r>
              <a:rPr lang="en-US" sz="3000" dirty="0"/>
              <a:t>Physical dimensions have </a:t>
            </a:r>
            <a:r>
              <a:rPr lang="en-US" sz="3000" b="1" dirty="0"/>
              <a:t>minimal impact on pricing</a:t>
            </a:r>
            <a:r>
              <a:rPr lang="en-US" sz="3000" dirty="0"/>
              <a:t>.</a:t>
            </a:r>
          </a:p>
          <a:p>
            <a:r>
              <a:rPr lang="en-US" sz="3000" dirty="0"/>
              <a:t>Processor type is a </a:t>
            </a:r>
            <a:r>
              <a:rPr lang="en-US" sz="3000" b="1" dirty="0"/>
              <a:t>major pricing factor</a:t>
            </a:r>
            <a:r>
              <a:rPr lang="en-US" sz="3000" dirty="0"/>
              <a:t>.</a:t>
            </a:r>
          </a:p>
          <a:p>
            <a:r>
              <a:rPr lang="en-US" sz="3000" dirty="0"/>
              <a:t>Brand/model positioning strongly affects pricing.</a:t>
            </a:r>
          </a:p>
          <a:p>
            <a:r>
              <a:rPr lang="en-US" sz="3000" dirty="0" err="1"/>
              <a:t>Colour</a:t>
            </a:r>
            <a:r>
              <a:rPr lang="en-US" sz="3000" dirty="0"/>
              <a:t> has </a:t>
            </a:r>
            <a:r>
              <a:rPr lang="en-US" sz="3000" b="1" dirty="0"/>
              <a:t>negligible impact</a:t>
            </a:r>
            <a:r>
              <a:rPr lang="en-US" sz="3000" dirty="0"/>
              <a:t> on price.</a:t>
            </a:r>
          </a:p>
          <a:p>
            <a:r>
              <a:rPr lang="en-US" sz="3000" dirty="0"/>
              <a:t>AI features have </a:t>
            </a:r>
            <a:r>
              <a:rPr lang="en-US" sz="3000" b="1" dirty="0"/>
              <a:t>minor influence</a:t>
            </a:r>
            <a:r>
              <a:rPr lang="en-US" sz="3000" dirty="0"/>
              <a:t> on price.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413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94FB-A03A-C6BE-58EA-260EDFE8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981E94-E436-DBD0-A6F0-E0A060727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7997" y="1967609"/>
            <a:ext cx="3988005" cy="37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90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3B173-FFC1-BF94-3976-EF7ECEB2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for 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158AD-4E09-97D0-A2D2-B410F834A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Price is influenced by the </a:t>
            </a:r>
            <a:r>
              <a:rPr lang="en-US" sz="2800" b="1" dirty="0"/>
              <a:t>combination of features</a:t>
            </a:r>
            <a:r>
              <a:rPr lang="en-US" sz="2800" dirty="0"/>
              <a:t>, not a single variable.</a:t>
            </a:r>
          </a:p>
          <a:p>
            <a:r>
              <a:rPr lang="en-US" sz="2800" dirty="0"/>
              <a:t>The 3D scatter plot demonstrates that RAM has the strongest influence on mobile price, while battery capacity plays a secondary role. The combined effect of multiple features creates clear clusters of budget, mid-range, and premium smartphones, highlighting the importance of multivariate analysis in understanding pricing patterns.</a:t>
            </a:r>
          </a:p>
        </p:txBody>
      </p:sp>
    </p:spTree>
    <p:extLst>
      <p:ext uri="{BB962C8B-B14F-4D97-AF65-F5344CB8AC3E}">
        <p14:creationId xmlns:p14="http://schemas.microsoft.com/office/powerpoint/2010/main" val="3770043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Insights:</a:t>
            </a:r>
          </a:p>
          <a:p>
            <a:r>
              <a:t>- RAM has strong positive correlation with price</a:t>
            </a:r>
          </a:p>
          <a:p>
            <a:r>
              <a:t>- Memory also impacts price</a:t>
            </a:r>
          </a:p>
          <a:p>
            <a:r>
              <a:t>- Weak correlation for color/model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Feature Importance (Random Forest)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Features:</a:t>
            </a:r>
          </a:p>
          <a:p>
            <a:r>
              <a:t>- RAM</a:t>
            </a:r>
          </a:p>
          <a:p>
            <a:r>
              <a:t>- Processor</a:t>
            </a:r>
          </a:p>
          <a:p>
            <a:r>
              <a:t>- Internal Memory</a:t>
            </a:r>
          </a:p>
          <a:p>
            <a:r>
              <a:t>- Camera</a:t>
            </a:r>
          </a:p>
          <a:p>
            <a:r>
              <a:t>- Battery</a:t>
            </a:r>
          </a:p>
          <a:p>
            <a:r>
              <a:t>These strongly influence price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FBF5-B4E1-D34C-B56C-2CB350E7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608019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Insight:</a:t>
            </a:r>
            <a:br>
              <a:rPr lang="en-US" sz="2700" dirty="0"/>
            </a:br>
            <a:r>
              <a:rPr lang="en-US" sz="2700" dirty="0"/>
              <a:t>Higher value = stronger influence on price</a:t>
            </a:r>
            <a:br>
              <a:rPr lang="en-US" sz="2700" dirty="0"/>
            </a:br>
            <a:r>
              <a:rPr lang="en-US" sz="2700" dirty="0"/>
              <a:t>This is more reliable than correlation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02C5F1-BEBD-6F0F-0E50-C8C9BFA32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82657"/>
            <a:ext cx="8229600" cy="396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20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 Plots show:</a:t>
            </a:r>
          </a:p>
          <a:p>
            <a:r>
              <a:t>- Higher RAM → Higher price</a:t>
            </a:r>
          </a:p>
          <a:p>
            <a:r>
              <a:t>- Better processor → Premium phones</a:t>
            </a:r>
          </a:p>
          <a:p>
            <a:r>
              <a:t>- Camera improves mid-high range pricing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18DCA8-4024-68E9-2DBB-46BA52171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8521" y="-6371"/>
            <a:ext cx="3114603" cy="2762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0C2250-12B6-B966-6662-AFC9A4773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842" y="117679"/>
            <a:ext cx="3500320" cy="2643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BA4AA0-BF38-11D6-FB11-EF049F359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8" y="4444182"/>
            <a:ext cx="3114603" cy="2413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687457-642E-01FB-9D73-20A687A23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7580" y="2526587"/>
            <a:ext cx="2780933" cy="21471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2C7C5C-4CB8-BD47-9D71-ED90076359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91" y="4444182"/>
            <a:ext cx="3114603" cy="23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5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Selected top features based on importance</a:t>
            </a:r>
          </a:p>
          <a:p>
            <a:r>
              <a:t>Reduced noise and improved model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- Technical specs drive price</a:t>
            </a:r>
          </a:p>
          <a:p>
            <a:r>
              <a:t>- Branding/color less important</a:t>
            </a:r>
          </a:p>
          <a:p>
            <a:r>
              <a:t>- RAM &amp; Processor are dominant factors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BD7A-D49F-84A8-44FF-DE864000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414" y="2692161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90029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422</Words>
  <Application>Microsoft Office PowerPoint</Application>
  <PresentationFormat>On-screen Show (4:3)</PresentationFormat>
  <Paragraphs>69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Next Hikes IT Solutions</vt:lpstr>
      <vt:lpstr>Mobile Price Prediction</vt:lpstr>
      <vt:lpstr>Dataset Overview</vt:lpstr>
      <vt:lpstr>Data Preprocessing</vt:lpstr>
      <vt:lpstr>Univariate Analysis</vt:lpstr>
      <vt:lpstr>PowerPoint Presentation</vt:lpstr>
      <vt:lpstr>PowerPoint Presentation</vt:lpstr>
      <vt:lpstr>Insight for Univariate Analysis</vt:lpstr>
      <vt:lpstr>Bivariate Analysis</vt:lpstr>
      <vt:lpstr>PowerPoint Presentation</vt:lpstr>
      <vt:lpstr>Insights for Bivariate Analysis</vt:lpstr>
      <vt:lpstr>Multivariate Analysis</vt:lpstr>
      <vt:lpstr>Insight for Multivariate Analysis</vt:lpstr>
      <vt:lpstr>Correlation Analysis</vt:lpstr>
      <vt:lpstr>Feature Importance (Random Forest)</vt:lpstr>
      <vt:lpstr>Insight: Higher value = stronger influence on price This is more reliable than correlation </vt:lpstr>
      <vt:lpstr>Visualization Insights</vt:lpstr>
      <vt:lpstr>PowerPoint Presentation</vt:lpstr>
      <vt:lpstr>Feature Selection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Shetty, Rupa</cp:lastModifiedBy>
  <cp:revision>2</cp:revision>
  <dcterms:created xsi:type="dcterms:W3CDTF">2013-01-27T09:14:16Z</dcterms:created>
  <dcterms:modified xsi:type="dcterms:W3CDTF">2026-04-24T12:47:54Z</dcterms:modified>
  <cp:category/>
</cp:coreProperties>
</file>